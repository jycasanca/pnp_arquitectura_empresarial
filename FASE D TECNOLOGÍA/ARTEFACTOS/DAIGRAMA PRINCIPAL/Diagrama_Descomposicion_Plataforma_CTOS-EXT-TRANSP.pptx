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6B"/>
          </a:solidFill>
          <a:ln/>
        </p:spPr>
      </p:sp>
      <p:sp>
        <p:nvSpPr>
          <p:cNvPr id="3" name="Shape 1"/>
          <p:cNvSpPr/>
          <p:nvPr/>
        </p:nvSpPr>
        <p:spPr>
          <a:xfrm>
            <a:off x="-3200400" y="-3474720"/>
            <a:ext cx="7498080" cy="7498080"/>
          </a:xfrm>
          <a:prstGeom prst="ellipse">
            <a:avLst/>
          </a:prstGeom>
          <a:solidFill>
            <a:srgbClr val="1F6F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774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F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CTOS-EXT-TRANSP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Descomposición de la Plataforma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D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D — Arquitectura Tecnológica  |  TOGAF 9.2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Inteligente de Detección y Prevención de Extorsión — Módulo Extorsión al Sector Transporte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9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 Metropolitana — Zona Piloto: San Juan de Lurigancho, Ate, El Agustino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-3291840" y="-3520440"/>
            <a:ext cx="5120640" cy="5120640"/>
          </a:xfrm>
          <a:prstGeom prst="ellipse">
            <a:avLst/>
          </a:prstGeom>
          <a:solidFill>
            <a:srgbClr val="1F6F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9260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Descomposición Funcional — Servicios del Motor de Correlación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6565392"/>
            <a:ext cx="11640312" cy="0"/>
          </a:xfrm>
          <a:prstGeom prst="line">
            <a:avLst/>
          </a:prstGeom>
          <a:noFill/>
          <a:ln w="25400">
            <a:solidFill>
              <a:srgbClr val="1F6F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3520440" cy="1417320"/>
          </a:xfrm>
          <a:prstGeom prst="rect">
            <a:avLst/>
          </a:prstGeom>
          <a:solidFill>
            <a:srgbClr val="FBFDFF"/>
          </a:solidFill>
          <a:ln w="12700">
            <a:solidFill>
              <a:srgbClr val="C7DA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271016"/>
            <a:ext cx="33741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Multicanal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1581912"/>
            <a:ext cx="1577340" cy="384048"/>
          </a:xfrm>
          <a:prstGeom prst="roundRect">
            <a:avLst>
              <a:gd name="adj" fmla="val 9524"/>
            </a:avLst>
          </a:prstGeom>
          <a:solidFill>
            <a:srgbClr val="EAF2FA"/>
          </a:solidFill>
          <a:ln w="6350">
            <a:solidFill>
              <a:srgbClr val="B9CC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" y="1581912"/>
            <a:ext cx="15041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ms-ingestor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2217420" y="1581912"/>
            <a:ext cx="1577340" cy="384048"/>
          </a:xfrm>
          <a:prstGeom prst="roundRect">
            <a:avLst>
              <a:gd name="adj" fmla="val 9524"/>
            </a:avLst>
          </a:prstGeom>
          <a:solidFill>
            <a:srgbClr val="EAF2FA"/>
          </a:solidFill>
          <a:ln w="6350">
            <a:solidFill>
              <a:srgbClr val="B9CC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53996" y="1581912"/>
            <a:ext cx="15041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Pydantic 2.x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566928" y="2020824"/>
            <a:ext cx="1577340" cy="384048"/>
          </a:xfrm>
          <a:prstGeom prst="roundRect">
            <a:avLst>
              <a:gd name="adj" fmla="val 9524"/>
            </a:avLst>
          </a:prstGeom>
          <a:solidFill>
            <a:srgbClr val="EAF2FA"/>
          </a:solidFill>
          <a:ln w="6350">
            <a:solidFill>
              <a:srgbClr val="B9C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2020824"/>
            <a:ext cx="15041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Forwarder WhatsApp (INT-05)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4114800" y="1234440"/>
            <a:ext cx="3520440" cy="1417320"/>
          </a:xfrm>
          <a:prstGeom prst="rect">
            <a:avLst/>
          </a:prstGeom>
          <a:solidFill>
            <a:srgbClr val="FBFDFF"/>
          </a:solidFill>
          <a:ln w="12700">
            <a:solidFill>
              <a:srgbClr val="C7DA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87952" y="1271016"/>
            <a:ext cx="33741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Sanitización y Evidencia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24528" y="1581912"/>
            <a:ext cx="1577340" cy="384048"/>
          </a:xfrm>
          <a:prstGeom prst="roundRect">
            <a:avLst>
              <a:gd name="adj" fmla="val 9524"/>
            </a:avLst>
          </a:prstGeom>
          <a:solidFill>
            <a:srgbClr val="EAF2FA"/>
          </a:solidFill>
          <a:ln w="6350">
            <a:solidFill>
              <a:srgbClr val="B9CC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61104" y="1581912"/>
            <a:ext cx="15041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ms-sanitizer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5875020" y="1581912"/>
            <a:ext cx="1577340" cy="384048"/>
          </a:xfrm>
          <a:prstGeom prst="roundRect">
            <a:avLst>
              <a:gd name="adj" fmla="val 9524"/>
            </a:avLst>
          </a:prstGeom>
          <a:solidFill>
            <a:srgbClr val="EAF2FA"/>
          </a:solidFill>
          <a:ln w="6350">
            <a:solidFill>
              <a:srgbClr val="B9CC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11596" y="1581912"/>
            <a:ext cx="15041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EXIF (ExifTool)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4224528" y="2020824"/>
            <a:ext cx="1577340" cy="384048"/>
          </a:xfrm>
          <a:prstGeom prst="roundRect">
            <a:avLst>
              <a:gd name="adj" fmla="val 9524"/>
            </a:avLst>
          </a:prstGeom>
          <a:solidFill>
            <a:srgbClr val="EAF2FA"/>
          </a:solidFill>
          <a:ln w="6350">
            <a:solidFill>
              <a:srgbClr val="B9CC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61104" y="2020824"/>
            <a:ext cx="15041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 10s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7772400" y="1234440"/>
            <a:ext cx="3931920" cy="1417320"/>
          </a:xfrm>
          <a:prstGeom prst="rect">
            <a:avLst/>
          </a:prstGeom>
          <a:solidFill>
            <a:srgbClr val="FBFDFF"/>
          </a:solidFill>
          <a:ln w="12700">
            <a:solidFill>
              <a:srgbClr val="C7DA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45552" y="1271016"/>
            <a:ext cx="3785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de Confianza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882128" y="1581912"/>
            <a:ext cx="1783080" cy="384048"/>
          </a:xfrm>
          <a:prstGeom prst="roundRect">
            <a:avLst>
              <a:gd name="adj" fmla="val 9524"/>
            </a:avLst>
          </a:prstGeom>
          <a:solidFill>
            <a:srgbClr val="EAF2FA"/>
          </a:solidFill>
          <a:ln w="6350">
            <a:solidFill>
              <a:srgbClr val="B9CC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18704" y="1581912"/>
            <a:ext cx="1709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ms-scorer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9738360" y="1581912"/>
            <a:ext cx="1783080" cy="384048"/>
          </a:xfrm>
          <a:prstGeom prst="roundRect">
            <a:avLst>
              <a:gd name="adj" fmla="val 9524"/>
            </a:avLst>
          </a:prstGeom>
          <a:solidFill>
            <a:srgbClr val="EAF2FA"/>
          </a:solidFill>
          <a:ln w="6350">
            <a:solidFill>
              <a:srgbClr val="B9CC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74936" y="1581912"/>
            <a:ext cx="1709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SHA-256 numero_extorsionador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7882128" y="2020824"/>
            <a:ext cx="1783080" cy="384048"/>
          </a:xfrm>
          <a:prstGeom prst="roundRect">
            <a:avLst>
              <a:gd name="adj" fmla="val 9524"/>
            </a:avLst>
          </a:prstGeom>
          <a:solidFill>
            <a:srgbClr val="EAF2FA"/>
          </a:solidFill>
          <a:ln w="6350">
            <a:solidFill>
              <a:srgbClr val="B9CC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18704" y="2020824"/>
            <a:ext cx="1709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 de Recurrencia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457200" y="2788920"/>
            <a:ext cx="3520440" cy="1417320"/>
          </a:xfrm>
          <a:prstGeom prst="rect">
            <a:avLst/>
          </a:prstGeom>
          <a:solidFill>
            <a:srgbClr val="FBFDFF"/>
          </a:solidFill>
          <a:ln w="12700">
            <a:solidFill>
              <a:srgbClr val="C7DA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2825496"/>
            <a:ext cx="33741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Geoanálisis y Clustering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66928" y="3136392"/>
            <a:ext cx="1577340" cy="384048"/>
          </a:xfrm>
          <a:prstGeom prst="roundRect">
            <a:avLst>
              <a:gd name="adj" fmla="val 9524"/>
            </a:avLst>
          </a:prstGeom>
          <a:solidFill>
            <a:srgbClr val="FDEEDB"/>
          </a:solidFill>
          <a:ln w="6350">
            <a:solidFill>
              <a:srgbClr val="B9CC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3504" y="3136392"/>
            <a:ext cx="15041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ms-geoanalytics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2217420" y="3136392"/>
            <a:ext cx="1577340" cy="384048"/>
          </a:xfrm>
          <a:prstGeom prst="roundRect">
            <a:avLst>
              <a:gd name="adj" fmla="val 9524"/>
            </a:avLst>
          </a:prstGeom>
          <a:solidFill>
            <a:srgbClr val="FDEEDB"/>
          </a:solidFill>
          <a:ln w="6350">
            <a:solidFill>
              <a:srgbClr val="B9CC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53996" y="3136392"/>
            <a:ext cx="15041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adaptativo</a:t>
            </a:r>
            <a:endParaRPr lang="en-US" sz="830" dirty="0"/>
          </a:p>
        </p:txBody>
      </p:sp>
      <p:sp>
        <p:nvSpPr>
          <p:cNvPr id="36" name="Shape 34"/>
          <p:cNvSpPr/>
          <p:nvPr/>
        </p:nvSpPr>
        <p:spPr>
          <a:xfrm>
            <a:off x="566928" y="3575304"/>
            <a:ext cx="1577340" cy="384048"/>
          </a:xfrm>
          <a:prstGeom prst="roundRect">
            <a:avLst>
              <a:gd name="adj" fmla="val 9524"/>
            </a:avLst>
          </a:prstGeom>
          <a:solidFill>
            <a:srgbClr val="FDEEDB"/>
          </a:solidFill>
          <a:ln w="6350">
            <a:solidFill>
              <a:srgbClr val="B9CC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3504" y="3575304"/>
            <a:ext cx="15041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Clúster de Extorsión Transporte</a:t>
            </a:r>
            <a:endParaRPr lang="en-US" sz="830" dirty="0"/>
          </a:p>
        </p:txBody>
      </p:sp>
      <p:sp>
        <p:nvSpPr>
          <p:cNvPr id="38" name="Shape 36"/>
          <p:cNvSpPr/>
          <p:nvPr/>
        </p:nvSpPr>
        <p:spPr>
          <a:xfrm>
            <a:off x="4114800" y="2788920"/>
            <a:ext cx="3520440" cy="1417320"/>
          </a:xfrm>
          <a:prstGeom prst="rect">
            <a:avLst/>
          </a:prstGeom>
          <a:solidFill>
            <a:srgbClr val="FBFDFF"/>
          </a:solidFill>
          <a:ln w="12700">
            <a:solidFill>
              <a:srgbClr val="C7DA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87952" y="2825496"/>
            <a:ext cx="33741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y Despacho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224528" y="3136392"/>
            <a:ext cx="1577340" cy="384048"/>
          </a:xfrm>
          <a:prstGeom prst="roundRect">
            <a:avLst>
              <a:gd name="adj" fmla="val 9524"/>
            </a:avLst>
          </a:prstGeom>
          <a:solidFill>
            <a:srgbClr val="FDEEDB"/>
          </a:solidFill>
          <a:ln w="6350">
            <a:solidFill>
              <a:srgbClr val="B9CC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61104" y="3136392"/>
            <a:ext cx="15041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ms-alerter</a:t>
            </a:r>
            <a:endParaRPr lang="en-US" sz="830" dirty="0"/>
          </a:p>
        </p:txBody>
      </p:sp>
      <p:sp>
        <p:nvSpPr>
          <p:cNvPr id="42" name="Shape 40"/>
          <p:cNvSpPr/>
          <p:nvPr/>
        </p:nvSpPr>
        <p:spPr>
          <a:xfrm>
            <a:off x="5875020" y="3136392"/>
            <a:ext cx="1577340" cy="384048"/>
          </a:xfrm>
          <a:prstGeom prst="roundRect">
            <a:avLst>
              <a:gd name="adj" fmla="val 9524"/>
            </a:avLst>
          </a:prstGeom>
          <a:solidFill>
            <a:srgbClr val="FDEEDB"/>
          </a:solidFill>
          <a:ln w="6350">
            <a:solidFill>
              <a:srgbClr val="B9CC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11596" y="3136392"/>
            <a:ext cx="15041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ms-comms-bridge</a:t>
            </a:r>
            <a:endParaRPr lang="en-US" sz="830" dirty="0"/>
          </a:p>
        </p:txBody>
      </p:sp>
      <p:sp>
        <p:nvSpPr>
          <p:cNvPr id="44" name="Shape 42"/>
          <p:cNvSpPr/>
          <p:nvPr/>
        </p:nvSpPr>
        <p:spPr>
          <a:xfrm>
            <a:off x="4224528" y="3575304"/>
            <a:ext cx="1577340" cy="384048"/>
          </a:xfrm>
          <a:prstGeom prst="roundRect">
            <a:avLst>
              <a:gd name="adj" fmla="val 9524"/>
            </a:avLst>
          </a:prstGeom>
          <a:solidFill>
            <a:srgbClr val="FDEEDB"/>
          </a:solidFill>
          <a:ln w="6350">
            <a:solidFill>
              <a:srgbClr val="B9CC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61104" y="3575304"/>
            <a:ext cx="15041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de Patrullaje</a:t>
            </a:r>
            <a:endParaRPr lang="en-US" sz="830" dirty="0"/>
          </a:p>
        </p:txBody>
      </p:sp>
      <p:sp>
        <p:nvSpPr>
          <p:cNvPr id="46" name="Shape 44"/>
          <p:cNvSpPr/>
          <p:nvPr/>
        </p:nvSpPr>
        <p:spPr>
          <a:xfrm>
            <a:off x="7772400" y="2788920"/>
            <a:ext cx="3931920" cy="1417320"/>
          </a:xfrm>
          <a:prstGeom prst="rect">
            <a:avLst/>
          </a:prstGeom>
          <a:solidFill>
            <a:srgbClr val="FBFDFF"/>
          </a:solidFill>
          <a:ln w="12700">
            <a:solidFill>
              <a:srgbClr val="C7DA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845552" y="2825496"/>
            <a:ext cx="3785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de Rutas y NLP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882128" y="3136392"/>
            <a:ext cx="1783080" cy="384048"/>
          </a:xfrm>
          <a:prstGeom prst="roundRect">
            <a:avLst>
              <a:gd name="adj" fmla="val 9524"/>
            </a:avLst>
          </a:prstGeom>
          <a:solidFill>
            <a:srgbClr val="FDEEDB"/>
          </a:solidFill>
          <a:ln w="6350">
            <a:solidFill>
              <a:srgbClr val="B9CC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18704" y="3136392"/>
            <a:ext cx="1709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ms-routeoptimizer</a:t>
            </a:r>
            <a:endParaRPr lang="en-US" sz="830" dirty="0"/>
          </a:p>
        </p:txBody>
      </p:sp>
      <p:sp>
        <p:nvSpPr>
          <p:cNvPr id="50" name="Shape 48"/>
          <p:cNvSpPr/>
          <p:nvPr/>
        </p:nvSpPr>
        <p:spPr>
          <a:xfrm>
            <a:off x="9738360" y="3136392"/>
            <a:ext cx="1783080" cy="384048"/>
          </a:xfrm>
          <a:prstGeom prst="roundRect">
            <a:avLst>
              <a:gd name="adj" fmla="val 9524"/>
            </a:avLst>
          </a:prstGeom>
          <a:solidFill>
            <a:srgbClr val="FDEEDB"/>
          </a:solidFill>
          <a:ln w="6350">
            <a:solidFill>
              <a:srgbClr val="B9CC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774936" y="3136392"/>
            <a:ext cx="1709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ms-nlp (EntityRuler spaCy)</a:t>
            </a:r>
            <a:endParaRPr lang="en-US" sz="830" dirty="0"/>
          </a:p>
        </p:txBody>
      </p:sp>
      <p:sp>
        <p:nvSpPr>
          <p:cNvPr id="52" name="Shape 50"/>
          <p:cNvSpPr/>
          <p:nvPr/>
        </p:nvSpPr>
        <p:spPr>
          <a:xfrm>
            <a:off x="7882128" y="3575304"/>
            <a:ext cx="1783080" cy="384048"/>
          </a:xfrm>
          <a:prstGeom prst="roundRect">
            <a:avLst>
              <a:gd name="adj" fmla="val 9524"/>
            </a:avLst>
          </a:prstGeom>
          <a:solidFill>
            <a:srgbClr val="FDEEDB"/>
          </a:solidFill>
          <a:ln w="6350">
            <a:solidFill>
              <a:srgbClr val="B9CC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18704" y="3575304"/>
            <a:ext cx="1709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ms-media-server</a:t>
            </a:r>
            <a:endParaRPr lang="en-US" sz="830" dirty="0"/>
          </a:p>
        </p:txBody>
      </p:sp>
      <p:sp>
        <p:nvSpPr>
          <p:cNvPr id="54" name="Shape 52"/>
          <p:cNvSpPr/>
          <p:nvPr/>
        </p:nvSpPr>
        <p:spPr>
          <a:xfrm>
            <a:off x="457200" y="4343400"/>
            <a:ext cx="7178040" cy="1325880"/>
          </a:xfrm>
          <a:prstGeom prst="rect">
            <a:avLst/>
          </a:prstGeom>
          <a:solidFill>
            <a:srgbClr val="FBFDFF"/>
          </a:solidFill>
          <a:ln w="12700">
            <a:solidFill>
              <a:srgbClr val="C7DAE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0352" y="4379976"/>
            <a:ext cx="7031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Persistencia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66928" y="4690872"/>
            <a:ext cx="3406140" cy="384048"/>
          </a:xfrm>
          <a:prstGeom prst="roundRect">
            <a:avLst>
              <a:gd name="adj" fmla="val 9524"/>
            </a:avLst>
          </a:prstGeom>
          <a:solidFill>
            <a:srgbClr val="E7F3EC"/>
          </a:solidFill>
          <a:ln w="6350">
            <a:solidFill>
              <a:srgbClr val="B9CC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03504" y="4690872"/>
            <a:ext cx="33329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reporte_ciudadano</a:t>
            </a:r>
            <a:endParaRPr lang="en-US" sz="830" dirty="0"/>
          </a:p>
        </p:txBody>
      </p:sp>
      <p:sp>
        <p:nvSpPr>
          <p:cNvPr id="58" name="Shape 56"/>
          <p:cNvSpPr/>
          <p:nvPr/>
        </p:nvSpPr>
        <p:spPr>
          <a:xfrm>
            <a:off x="4046220" y="4690872"/>
            <a:ext cx="3406140" cy="384048"/>
          </a:xfrm>
          <a:prstGeom prst="roundRect">
            <a:avLst>
              <a:gd name="adj" fmla="val 9524"/>
            </a:avLst>
          </a:prstGeom>
          <a:solidFill>
            <a:srgbClr val="E7F3EC"/>
          </a:solidFill>
          <a:ln w="6350">
            <a:solidFill>
              <a:srgbClr val="B9CCE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082796" y="4690872"/>
            <a:ext cx="33329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extorsion_transp_adicional</a:t>
            </a:r>
            <a:endParaRPr lang="en-US" sz="830" dirty="0"/>
          </a:p>
        </p:txBody>
      </p:sp>
      <p:sp>
        <p:nvSpPr>
          <p:cNvPr id="60" name="Shape 58"/>
          <p:cNvSpPr/>
          <p:nvPr/>
        </p:nvSpPr>
        <p:spPr>
          <a:xfrm>
            <a:off x="566928" y="5129784"/>
            <a:ext cx="3406140" cy="384048"/>
          </a:xfrm>
          <a:prstGeom prst="roundRect">
            <a:avLst>
              <a:gd name="adj" fmla="val 9524"/>
            </a:avLst>
          </a:prstGeom>
          <a:solidFill>
            <a:srgbClr val="E7F3EC"/>
          </a:solidFill>
          <a:ln w="6350">
            <a:solidFill>
              <a:srgbClr val="B9CCE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03504" y="5129784"/>
            <a:ext cx="33329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corredor_vial (maestra)</a:t>
            </a:r>
            <a:endParaRPr lang="en-US" sz="830" dirty="0"/>
          </a:p>
        </p:txBody>
      </p:sp>
      <p:sp>
        <p:nvSpPr>
          <p:cNvPr id="62" name="Shape 60"/>
          <p:cNvSpPr/>
          <p:nvPr/>
        </p:nvSpPr>
        <p:spPr>
          <a:xfrm>
            <a:off x="4046220" y="5129784"/>
            <a:ext cx="3406140" cy="384048"/>
          </a:xfrm>
          <a:prstGeom prst="roundRect">
            <a:avLst>
              <a:gd name="adj" fmla="val 9524"/>
            </a:avLst>
          </a:prstGeom>
          <a:solidFill>
            <a:srgbClr val="E7F3EC"/>
          </a:solidFill>
          <a:ln w="6350">
            <a:solidFill>
              <a:srgbClr val="B9CCE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082796" y="5129784"/>
            <a:ext cx="33329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cluster_delictivo</a:t>
            </a:r>
            <a:endParaRPr lang="en-US" sz="830" dirty="0"/>
          </a:p>
        </p:txBody>
      </p:sp>
      <p:sp>
        <p:nvSpPr>
          <p:cNvPr id="64" name="Shape 62"/>
          <p:cNvSpPr/>
          <p:nvPr/>
        </p:nvSpPr>
        <p:spPr>
          <a:xfrm>
            <a:off x="566928" y="5568696"/>
            <a:ext cx="3406140" cy="384048"/>
          </a:xfrm>
          <a:prstGeom prst="roundRect">
            <a:avLst>
              <a:gd name="adj" fmla="val 9524"/>
            </a:avLst>
          </a:prstGeom>
          <a:solidFill>
            <a:srgbClr val="E7F3EC"/>
          </a:solidFill>
          <a:ln w="6350">
            <a:solidFill>
              <a:srgbClr val="B9CCE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03504" y="5568696"/>
            <a:ext cx="33329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senal_recurrencia</a:t>
            </a:r>
            <a:endParaRPr lang="en-US" sz="830" dirty="0"/>
          </a:p>
        </p:txBody>
      </p:sp>
      <p:sp>
        <p:nvSpPr>
          <p:cNvPr id="66" name="Shape 64"/>
          <p:cNvSpPr/>
          <p:nvPr/>
        </p:nvSpPr>
        <p:spPr>
          <a:xfrm>
            <a:off x="4046220" y="5568696"/>
            <a:ext cx="3406140" cy="384048"/>
          </a:xfrm>
          <a:prstGeom prst="roundRect">
            <a:avLst>
              <a:gd name="adj" fmla="val 9524"/>
            </a:avLst>
          </a:prstGeom>
          <a:solidFill>
            <a:srgbClr val="E7F3EC"/>
          </a:solidFill>
          <a:ln w="6350">
            <a:solidFill>
              <a:srgbClr val="B9CCE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082796" y="5568696"/>
            <a:ext cx="33329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log_auditoria (Append-Only)</a:t>
            </a:r>
            <a:endParaRPr lang="en-US" sz="830" dirty="0"/>
          </a:p>
        </p:txBody>
      </p:sp>
      <p:sp>
        <p:nvSpPr>
          <p:cNvPr id="68" name="Shape 66"/>
          <p:cNvSpPr/>
          <p:nvPr/>
        </p:nvSpPr>
        <p:spPr>
          <a:xfrm>
            <a:off x="7772400" y="4343400"/>
            <a:ext cx="3931920" cy="1325880"/>
          </a:xfrm>
          <a:prstGeom prst="rect">
            <a:avLst/>
          </a:prstGeom>
          <a:solidFill>
            <a:srgbClr val="FBFDFF"/>
          </a:solidFill>
          <a:ln w="12700">
            <a:solidFill>
              <a:srgbClr val="C7DAE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845552" y="4379976"/>
            <a:ext cx="3785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7882128" y="4690872"/>
            <a:ext cx="1783080" cy="384048"/>
          </a:xfrm>
          <a:prstGeom prst="roundRect">
            <a:avLst>
              <a:gd name="adj" fmla="val 9524"/>
            </a:avLst>
          </a:prstGeom>
          <a:solidFill>
            <a:srgbClr val="E7F3EC"/>
          </a:solidFill>
          <a:ln w="6350">
            <a:solidFill>
              <a:srgbClr val="B9CCE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918704" y="4690872"/>
            <a:ext cx="1709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Táctico</a:t>
            </a:r>
            <a:endParaRPr lang="en-US" sz="830" dirty="0"/>
          </a:p>
        </p:txBody>
      </p:sp>
      <p:sp>
        <p:nvSpPr>
          <p:cNvPr id="72" name="Shape 70"/>
          <p:cNvSpPr/>
          <p:nvPr/>
        </p:nvSpPr>
        <p:spPr>
          <a:xfrm>
            <a:off x="9738360" y="4690872"/>
            <a:ext cx="1783080" cy="384048"/>
          </a:xfrm>
          <a:prstGeom prst="roundRect">
            <a:avLst>
              <a:gd name="adj" fmla="val 9524"/>
            </a:avLst>
          </a:prstGeom>
          <a:solidFill>
            <a:srgbClr val="E7F3EC"/>
          </a:solidFill>
          <a:ln w="6350">
            <a:solidFill>
              <a:srgbClr val="B9CCE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774936" y="4690872"/>
            <a:ext cx="1709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Ciudadana</a:t>
            </a:r>
            <a:endParaRPr lang="en-US" sz="830" dirty="0"/>
          </a:p>
        </p:txBody>
      </p:sp>
      <p:sp>
        <p:nvSpPr>
          <p:cNvPr id="74" name="Shape 72"/>
          <p:cNvSpPr/>
          <p:nvPr/>
        </p:nvSpPr>
        <p:spPr>
          <a:xfrm>
            <a:off x="7882128" y="5129784"/>
            <a:ext cx="1783080" cy="384048"/>
          </a:xfrm>
          <a:prstGeom prst="roundRect">
            <a:avLst>
              <a:gd name="adj" fmla="val 9524"/>
            </a:avLst>
          </a:prstGeom>
          <a:solidFill>
            <a:srgbClr val="E7F3EC"/>
          </a:solidFill>
          <a:ln w="6350">
            <a:solidFill>
              <a:srgbClr val="B9CCE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918704" y="5129784"/>
            <a:ext cx="1709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Web Responsivo</a:t>
            </a:r>
            <a:endParaRPr lang="en-US" sz="830" dirty="0"/>
          </a:p>
        </p:txBody>
      </p:sp>
      <p:sp>
        <p:nvSpPr>
          <p:cNvPr id="76" name="Text 74"/>
          <p:cNvSpPr/>
          <p:nvPr/>
        </p:nvSpPr>
        <p:spPr>
          <a:xfrm>
            <a:off x="457200" y="66019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CTOS-EXT-TRANSP — Fase D: Arquitectura Tecnológica (TOGAF 9.2)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9601200" y="660196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-3291840" y="-3520440"/>
            <a:ext cx="5120640" cy="5120640"/>
          </a:xfrm>
          <a:prstGeom prst="ellipse">
            <a:avLst/>
          </a:prstGeom>
          <a:solidFill>
            <a:srgbClr val="1F6F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9260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Descomposición Hardware / Software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6565392"/>
            <a:ext cx="11640312" cy="0"/>
          </a:xfrm>
          <a:prstGeom prst="line">
            <a:avLst/>
          </a:prstGeom>
          <a:noFill/>
          <a:ln w="25400">
            <a:solidFill>
              <a:srgbClr val="1F6F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5486400" cy="4937760"/>
          </a:xfrm>
          <a:prstGeom prst="rect">
            <a:avLst/>
          </a:prstGeom>
          <a:solidFill>
            <a:srgbClr val="F4F8FC"/>
          </a:solidFill>
          <a:ln w="15875">
            <a:solidFill>
              <a:srgbClr val="1F6F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45352" y="1325880"/>
            <a:ext cx="5486400" cy="4937760"/>
          </a:xfrm>
          <a:prstGeom prst="rect">
            <a:avLst/>
          </a:prstGeom>
          <a:solidFill>
            <a:srgbClr val="FBF4EC"/>
          </a:solidFill>
          <a:ln w="15875">
            <a:solidFill>
              <a:srgbClr val="D9A4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45352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6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1874520"/>
            <a:ext cx="2514600" cy="411480"/>
          </a:xfrm>
          <a:prstGeom prst="roundRect">
            <a:avLst>
              <a:gd name="adj" fmla="val 11111"/>
            </a:avLst>
          </a:prstGeom>
          <a:solidFill>
            <a:srgbClr val="1F6FB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87452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Lógicos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2377440"/>
            <a:ext cx="2331720" cy="384048"/>
          </a:xfrm>
          <a:prstGeom prst="roundRect">
            <a:avLst>
              <a:gd name="adj" fmla="val 11905"/>
            </a:avLst>
          </a:prstGeom>
          <a:solidFill>
            <a:srgbClr val="FFFDF0"/>
          </a:solidFill>
          <a:ln w="9525">
            <a:solidFill>
              <a:srgbClr val="E0CB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37744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Cómputo (K8s)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2834640"/>
            <a:ext cx="2331720" cy="384048"/>
          </a:xfrm>
          <a:prstGeom prst="roundRect">
            <a:avLst>
              <a:gd name="adj" fmla="val 11905"/>
            </a:avLst>
          </a:prstGeom>
          <a:solidFill>
            <a:srgbClr val="FFFDF0"/>
          </a:solidFill>
          <a:ln w="9525">
            <a:solidFill>
              <a:srgbClr val="E0CB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83464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Datos (BD/Objetos)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" y="3291840"/>
            <a:ext cx="2331720" cy="384048"/>
          </a:xfrm>
          <a:prstGeom prst="roundRect">
            <a:avLst>
              <a:gd name="adj" fmla="val 11905"/>
            </a:avLst>
          </a:prstGeom>
          <a:solidFill>
            <a:srgbClr val="FFFDF0"/>
          </a:solidFill>
          <a:ln w="9525">
            <a:solidFill>
              <a:srgbClr val="E0CB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29184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Red (VPN/WAF)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91840" y="1874520"/>
            <a:ext cx="2514600" cy="411480"/>
          </a:xfrm>
          <a:prstGeom prst="roundRect">
            <a:avLst>
              <a:gd name="adj" fmla="val 11111"/>
            </a:avLst>
          </a:prstGeom>
          <a:solidFill>
            <a:srgbClr val="3D8FD1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0" y="187452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Físicos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83280" y="2377440"/>
            <a:ext cx="2331720" cy="384048"/>
          </a:xfrm>
          <a:prstGeom prst="roundRect">
            <a:avLst>
              <a:gd name="adj" fmla="val 11905"/>
            </a:avLst>
          </a:prstGeom>
          <a:solidFill>
            <a:srgbClr val="FFFDF0"/>
          </a:solidFill>
          <a:ln w="9525">
            <a:solidFill>
              <a:srgbClr val="E0CB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237744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Nodos K8s On-Premise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83280" y="2834640"/>
            <a:ext cx="2331720" cy="384048"/>
          </a:xfrm>
          <a:prstGeom prst="roundRect">
            <a:avLst>
              <a:gd name="adj" fmla="val 11905"/>
            </a:avLst>
          </a:prstGeom>
          <a:solidFill>
            <a:srgbClr val="FFFDF0"/>
          </a:solidFill>
          <a:ln w="9525">
            <a:solidFill>
              <a:srgbClr val="E0CB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283464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 PostgreSQL/MinIO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83280" y="3291840"/>
            <a:ext cx="2331720" cy="384048"/>
          </a:xfrm>
          <a:prstGeom prst="roundRect">
            <a:avLst>
              <a:gd name="adj" fmla="val 11905"/>
            </a:avLst>
          </a:prstGeom>
          <a:solidFill>
            <a:srgbClr val="FFFDF0"/>
          </a:solidFill>
          <a:ln w="9525">
            <a:solidFill>
              <a:srgbClr val="E0CB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29000" y="329184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 WireGuard/ModSecurity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28232" y="1874520"/>
            <a:ext cx="2514600" cy="411480"/>
          </a:xfrm>
          <a:prstGeom prst="roundRect">
            <a:avLst>
              <a:gd name="adj" fmla="val 11111"/>
            </a:avLst>
          </a:prstGeom>
          <a:solidFill>
            <a:srgbClr val="D9A441"/>
          </a:solidFill>
          <a:ln/>
        </p:spPr>
      </p:sp>
      <p:sp>
        <p:nvSpPr>
          <p:cNvPr id="27" name="Text 25"/>
          <p:cNvSpPr/>
          <p:nvPr/>
        </p:nvSpPr>
        <p:spPr>
          <a:xfrm>
            <a:off x="6428232" y="187452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Lógicos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519672" y="2377440"/>
            <a:ext cx="2331720" cy="384048"/>
          </a:xfrm>
          <a:prstGeom prst="roundRect">
            <a:avLst>
              <a:gd name="adj" fmla="val 11905"/>
            </a:avLst>
          </a:prstGeom>
          <a:solidFill>
            <a:srgbClr val="FFFDF0"/>
          </a:solidFill>
          <a:ln w="9525">
            <a:solidFill>
              <a:srgbClr val="E0CB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65392" y="237744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Pydantic 2.x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519672" y="2834640"/>
            <a:ext cx="2331720" cy="384048"/>
          </a:xfrm>
          <a:prstGeom prst="roundRect">
            <a:avLst>
              <a:gd name="adj" fmla="val 11905"/>
            </a:avLst>
          </a:prstGeom>
          <a:solidFill>
            <a:srgbClr val="FFFDF0"/>
          </a:solidFill>
          <a:ln w="9525">
            <a:solidFill>
              <a:srgbClr val="E0CB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65392" y="283464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18.x + TypeScript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519672" y="3291840"/>
            <a:ext cx="2331720" cy="384048"/>
          </a:xfrm>
          <a:prstGeom prst="roundRect">
            <a:avLst>
              <a:gd name="adj" fmla="val 11905"/>
            </a:avLst>
          </a:prstGeom>
          <a:solidFill>
            <a:srgbClr val="FFFDF0"/>
          </a:solidFill>
          <a:ln w="9525">
            <a:solidFill>
              <a:srgbClr val="E0CB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65392" y="329184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/ scikit-learn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079992" y="1874520"/>
            <a:ext cx="2514600" cy="411480"/>
          </a:xfrm>
          <a:prstGeom prst="roundRect">
            <a:avLst>
              <a:gd name="adj" fmla="val 11111"/>
            </a:avLst>
          </a:prstGeom>
          <a:solidFill>
            <a:srgbClr val="C98F2B"/>
          </a:solidFill>
          <a:ln/>
        </p:spPr>
      </p:sp>
      <p:sp>
        <p:nvSpPr>
          <p:cNvPr id="35" name="Text 33"/>
          <p:cNvSpPr/>
          <p:nvPr/>
        </p:nvSpPr>
        <p:spPr>
          <a:xfrm>
            <a:off x="9079992" y="187452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Físicos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171432" y="2377440"/>
            <a:ext cx="2331720" cy="384048"/>
          </a:xfrm>
          <a:prstGeom prst="roundRect">
            <a:avLst>
              <a:gd name="adj" fmla="val 11905"/>
            </a:avLst>
          </a:prstGeom>
          <a:solidFill>
            <a:srgbClr val="FFFDF0"/>
          </a:solidFill>
          <a:ln w="9525">
            <a:solidFill>
              <a:srgbClr val="E0CB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17152" y="237744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Contenedores ms- (K8s 1.29.x)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9171432" y="2834640"/>
            <a:ext cx="2331720" cy="384048"/>
          </a:xfrm>
          <a:prstGeom prst="roundRect">
            <a:avLst>
              <a:gd name="adj" fmla="val 11905"/>
            </a:avLst>
          </a:prstGeom>
          <a:solidFill>
            <a:srgbClr val="FFFDF0"/>
          </a:solidFill>
          <a:ln w="9525">
            <a:solidFill>
              <a:srgbClr val="E0CB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17152" y="283464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estático Vite (S3+CloudFront)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171432" y="3291840"/>
            <a:ext cx="2331720" cy="384048"/>
          </a:xfrm>
          <a:prstGeom prst="roundRect">
            <a:avLst>
              <a:gd name="adj" fmla="val 11905"/>
            </a:avLst>
          </a:prstGeom>
          <a:solidFill>
            <a:srgbClr val="FFFDF0"/>
          </a:solidFill>
          <a:ln w="9525">
            <a:solidFill>
              <a:srgbClr val="E0CB8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217152" y="329184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spaCy es_core_news_md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" y="5486400"/>
            <a:ext cx="11274552" cy="713232"/>
          </a:xfrm>
          <a:prstGeom prst="rect">
            <a:avLst/>
          </a:prstGeom>
          <a:solidFill>
            <a:srgbClr val="EFF4F9"/>
          </a:solidFill>
          <a:ln w="9525">
            <a:solidFill>
              <a:srgbClr val="C7DA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" y="5486400"/>
            <a:ext cx="10972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comunes:  </a:t>
            </a:r>
            <a:pPr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componente · Versión · Vendor/Origen (propietario u open-source) · Tipo de despliegue (on-premise / AWS Fase 1) · Réplicas / Clúster · Licencia y vigencia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57200" y="66019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CTOS-EXT-TRANSP — Fase D: Arquitectura Tecnológica (TOGAF 9.2)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601200" y="660196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-3291840" y="-3520440"/>
            <a:ext cx="5120640" cy="5120640"/>
          </a:xfrm>
          <a:prstGeom prst="ellipse">
            <a:avLst/>
          </a:prstGeom>
          <a:solidFill>
            <a:srgbClr val="1F6F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9260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Plataformas Tecnológicas por Entorno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6565392"/>
            <a:ext cx="11640312" cy="0"/>
          </a:xfrm>
          <a:prstGeom prst="line">
            <a:avLst/>
          </a:prstGeom>
          <a:noFill/>
          <a:ln w="25400">
            <a:solidFill>
              <a:srgbClr val="1F6F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0" y="914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de Despliegue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778240" y="1188720"/>
            <a:ext cx="201168" cy="201168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8" name="Text 6"/>
          <p:cNvSpPr/>
          <p:nvPr/>
        </p:nvSpPr>
        <p:spPr>
          <a:xfrm>
            <a:off x="9052560" y="115214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PNP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778240" y="1481328"/>
            <a:ext cx="201168" cy="201168"/>
          </a:xfrm>
          <a:prstGeom prst="rect">
            <a:avLst/>
          </a:prstGeom>
          <a:solidFill>
            <a:srgbClr val="3D8FD1"/>
          </a:solidFill>
          <a:ln/>
        </p:spPr>
      </p:sp>
      <p:sp>
        <p:nvSpPr>
          <p:cNvPr id="10" name="Text 8"/>
          <p:cNvSpPr/>
          <p:nvPr/>
        </p:nvSpPr>
        <p:spPr>
          <a:xfrm>
            <a:off x="9052560" y="14447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Nube AWS (Fase 1)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778240" y="1773936"/>
            <a:ext cx="201168" cy="201168"/>
          </a:xfrm>
          <a:prstGeom prst="rect">
            <a:avLst/>
          </a:prstGeom>
          <a:solidFill>
            <a:srgbClr val="9FC3E8"/>
          </a:solidFill>
          <a:ln/>
        </p:spPr>
      </p:sp>
      <p:sp>
        <p:nvSpPr>
          <p:cNvPr id="12" name="Text 10"/>
          <p:cNvSpPr/>
          <p:nvPr/>
        </p:nvSpPr>
        <p:spPr>
          <a:xfrm>
            <a:off x="9052560" y="1737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 / Canal Externo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1188720"/>
            <a:ext cx="199339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A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" y="1225296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Almacenamiento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0352" y="1645920"/>
            <a:ext cx="146304" cy="146304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1600200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PostgreSQL+PostGIS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30352" y="1938528"/>
            <a:ext cx="146304" cy="146304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1892808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30352" y="2231136"/>
            <a:ext cx="146304" cy="146304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2185416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Barman (Backup)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514600" y="1188720"/>
            <a:ext cx="199339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A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9464" y="1225296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Mensajería y Eventos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87752" y="1645920"/>
            <a:ext cx="146304" cy="146304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24" name="Text 22"/>
          <p:cNvSpPr/>
          <p:nvPr/>
        </p:nvSpPr>
        <p:spPr>
          <a:xfrm>
            <a:off x="2788920" y="1600200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587752" y="1938528"/>
            <a:ext cx="146304" cy="146304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26" name="Text 24"/>
          <p:cNvSpPr/>
          <p:nvPr/>
        </p:nvSpPr>
        <p:spPr>
          <a:xfrm>
            <a:off x="2788920" y="1892808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Zookeeper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587752" y="2231136"/>
            <a:ext cx="146304" cy="146304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28" name="Text 26"/>
          <p:cNvSpPr/>
          <p:nvPr/>
        </p:nvSpPr>
        <p:spPr>
          <a:xfrm>
            <a:off x="2788920" y="2185416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0" y="1188720"/>
            <a:ext cx="199339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A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26864" y="1225296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Cómputo y Orquestación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45152" y="1645920"/>
            <a:ext cx="146304" cy="146304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1600200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645152" y="1938528"/>
            <a:ext cx="146304" cy="146304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1892808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645152" y="2231136"/>
            <a:ext cx="146304" cy="146304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2185416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/ spaCy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629400" y="1188720"/>
            <a:ext cx="199339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A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84264" y="1225296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Geolocalización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702552" y="1645920"/>
            <a:ext cx="146304" cy="146304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40" name="Text 38"/>
          <p:cNvSpPr/>
          <p:nvPr/>
        </p:nvSpPr>
        <p:spPr>
          <a:xfrm>
            <a:off x="6903720" y="1600200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OpenRouteService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702552" y="1938528"/>
            <a:ext cx="146304" cy="146304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42" name="Text 40"/>
          <p:cNvSpPr/>
          <p:nvPr/>
        </p:nvSpPr>
        <p:spPr>
          <a:xfrm>
            <a:off x="6903720" y="1892808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tiles OSM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702552" y="2231136"/>
            <a:ext cx="146304" cy="146304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44" name="Text 42"/>
          <p:cNvSpPr/>
          <p:nvPr/>
        </p:nvSpPr>
        <p:spPr>
          <a:xfrm>
            <a:off x="6903720" y="2185416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57200" y="2880360"/>
            <a:ext cx="199339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A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2064" y="2916936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30352" y="3337560"/>
            <a:ext cx="146304" cy="146304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48" name="Text 46"/>
          <p:cNvSpPr/>
          <p:nvPr/>
        </p:nvSpPr>
        <p:spPr>
          <a:xfrm>
            <a:off x="731520" y="3291840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Táctico (React)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30352" y="3630168"/>
            <a:ext cx="146304" cy="146304"/>
          </a:xfrm>
          <a:prstGeom prst="rect">
            <a:avLst/>
          </a:prstGeom>
          <a:solidFill>
            <a:srgbClr val="9FC3E8"/>
          </a:solidFill>
          <a:ln/>
        </p:spPr>
      </p:sp>
      <p:sp>
        <p:nvSpPr>
          <p:cNvPr id="50" name="Text 48"/>
          <p:cNvSpPr/>
          <p:nvPr/>
        </p:nvSpPr>
        <p:spPr>
          <a:xfrm>
            <a:off x="731520" y="3584448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Ciudadana (RN)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30352" y="3922776"/>
            <a:ext cx="146304" cy="146304"/>
          </a:xfrm>
          <a:prstGeom prst="rect">
            <a:avLst/>
          </a:prstGeom>
          <a:solidFill>
            <a:srgbClr val="3D8FD1"/>
          </a:solidFill>
          <a:ln/>
        </p:spPr>
      </p:sp>
      <p:sp>
        <p:nvSpPr>
          <p:cNvPr id="52" name="Text 50"/>
          <p:cNvSpPr/>
          <p:nvPr/>
        </p:nvSpPr>
        <p:spPr>
          <a:xfrm>
            <a:off x="731520" y="3877056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Web (Vite)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514600" y="2880360"/>
            <a:ext cx="199339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A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69464" y="2916936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 Externos AWS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587752" y="3337560"/>
            <a:ext cx="146304" cy="146304"/>
          </a:xfrm>
          <a:prstGeom prst="rect">
            <a:avLst/>
          </a:prstGeom>
          <a:solidFill>
            <a:srgbClr val="3D8FD1"/>
          </a:solidFill>
          <a:ln/>
        </p:spPr>
      </p:sp>
      <p:sp>
        <p:nvSpPr>
          <p:cNvPr id="56" name="Text 54"/>
          <p:cNvSpPr/>
          <p:nvPr/>
        </p:nvSpPr>
        <p:spPr>
          <a:xfrm>
            <a:off x="2788920" y="3291840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+ Lambda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587752" y="3630168"/>
            <a:ext cx="146304" cy="146304"/>
          </a:xfrm>
          <a:prstGeom prst="rect">
            <a:avLst/>
          </a:prstGeom>
          <a:solidFill>
            <a:srgbClr val="3D8FD1"/>
          </a:solidFill>
          <a:ln/>
        </p:spPr>
      </p:sp>
      <p:sp>
        <p:nvSpPr>
          <p:cNvPr id="58" name="Text 56"/>
          <p:cNvSpPr/>
          <p:nvPr/>
        </p:nvSpPr>
        <p:spPr>
          <a:xfrm>
            <a:off x="2788920" y="3584448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Location Service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587752" y="3922776"/>
            <a:ext cx="146304" cy="146304"/>
          </a:xfrm>
          <a:prstGeom prst="rect">
            <a:avLst/>
          </a:prstGeom>
          <a:solidFill>
            <a:srgbClr val="9FC3E8"/>
          </a:solidFill>
          <a:ln/>
        </p:spPr>
      </p:sp>
      <p:sp>
        <p:nvSpPr>
          <p:cNvPr id="60" name="Text 58"/>
          <p:cNvSpPr/>
          <p:nvPr/>
        </p:nvSpPr>
        <p:spPr>
          <a:xfrm>
            <a:off x="2788920" y="3877056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API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572000" y="2880360"/>
            <a:ext cx="199339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AE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26864" y="2916936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 Identidad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645152" y="3337560"/>
            <a:ext cx="146304" cy="146304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64" name="Text 62"/>
          <p:cNvSpPr/>
          <p:nvPr/>
        </p:nvSpPr>
        <p:spPr>
          <a:xfrm>
            <a:off x="4846320" y="3291840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Directory/ADFS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645152" y="3630168"/>
            <a:ext cx="146304" cy="146304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66" name="Text 64"/>
          <p:cNvSpPr/>
          <p:nvPr/>
        </p:nvSpPr>
        <p:spPr>
          <a:xfrm>
            <a:off x="4846320" y="3584448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 Gateway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645152" y="3922776"/>
            <a:ext cx="146304" cy="146304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68" name="Text 66"/>
          <p:cNvSpPr/>
          <p:nvPr/>
        </p:nvSpPr>
        <p:spPr>
          <a:xfrm>
            <a:off x="4846320" y="3877056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ModSecurity / WireGuard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6629400" y="2880360"/>
            <a:ext cx="199339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AE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684264" y="2916936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6702552" y="3337560"/>
            <a:ext cx="146304" cy="146304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72" name="Text 70"/>
          <p:cNvSpPr/>
          <p:nvPr/>
        </p:nvSpPr>
        <p:spPr>
          <a:xfrm>
            <a:off x="6903720" y="3291840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Prometheus/Grafana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702552" y="3630168"/>
            <a:ext cx="146304" cy="146304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74" name="Text 72"/>
          <p:cNvSpPr/>
          <p:nvPr/>
        </p:nvSpPr>
        <p:spPr>
          <a:xfrm>
            <a:off x="6903720" y="3584448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Stack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457200" y="66019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CTOS-EXT-TRANSP — Fase D: Arquitectura Tecnológica (TOGAF 9.2)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9601200" y="660196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Diagrama de Descomposición de la Plataforma - CTOS-EXT-TRANSP</dc:title>
  <dc:subject>PptxGenJS Presentation</dc:subject>
  <dc:creator>DIRIN - PNP</dc:creator>
  <cp:lastModifiedBy>DIRIN - PNP</cp:lastModifiedBy>
  <cp:revision>1</cp:revision>
  <dcterms:created xsi:type="dcterms:W3CDTF">2026-06-19T21:45:39Z</dcterms:created>
  <dcterms:modified xsi:type="dcterms:W3CDTF">2026-06-19T21:45:39Z</dcterms:modified>
</cp:coreProperties>
</file>